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828800"/>
            <a:ext cx="5486400" cy="548640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-914400"/>
            <a:ext cx="3200400" cy="3200400"/>
          </a:xfrm>
          <a:prstGeom prst="ellipse">
            <a:avLst/>
          </a:prstGeom>
          <a:solidFill>
            <a:srgbClr val="132038"/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389120"/>
            <a:ext cx="4389120" cy="438912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  ·  LAW ENFORCEMENT &amp; FORENSIC INTELLIGENCE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FieldVerify AI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FF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Companion for Colorimetric Field Drug Testing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9326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subjective roadside chemical color reactions into calibrated, standardized, and cryptographically signed digital evidence — using existing smartphone cameras and standard reagent kits with zero new hardware.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617720"/>
            <a:ext cx="2926080" cy="0"/>
          </a:xfrm>
          <a:prstGeom prst="line">
            <a:avLst/>
          </a:prstGeom>
          <a:noFill/>
          <a:ln w="31750">
            <a:solidFill>
              <a:srgbClr val="06B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4892040"/>
            <a:ext cx="2423160" cy="438912"/>
          </a:xfrm>
          <a:prstGeom prst="roundRect">
            <a:avLst>
              <a:gd name="adj" fmla="val 16667"/>
            </a:avLst>
          </a:prstGeom>
          <a:solidFill>
            <a:srgbClr val="16243D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892040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Zero New Hardware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4892040"/>
            <a:ext cx="2423160" cy="438912"/>
          </a:xfrm>
          <a:prstGeom prst="roundRect">
            <a:avLst>
              <a:gd name="adj" fmla="val 16667"/>
            </a:avLst>
          </a:prstGeom>
          <a:solidFill>
            <a:srgbClr val="16243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4892040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Reference-Card Calibrated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852160" y="4892040"/>
            <a:ext cx="2423160" cy="438912"/>
          </a:xfrm>
          <a:prstGeom prst="roundRect">
            <a:avLst>
              <a:gd name="adj" fmla="val 16667"/>
            </a:avLst>
          </a:prstGeom>
          <a:solidFill>
            <a:srgbClr val="16243D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4892040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Chain of Custody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458200" y="4892040"/>
            <a:ext cx="2423160" cy="438912"/>
          </a:xfrm>
          <a:prstGeom prst="roundRect">
            <a:avLst>
              <a:gd name="adj" fmla="val 16667"/>
            </a:avLst>
          </a:prstGeom>
          <a:solidFill>
            <a:srgbClr val="16243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58200" y="4892040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Presumptive Legal Defensibility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6172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Presumptive field screening companion · Strictly adheres to legal evidentiary standards · Non-invasive software rollout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roadside chemical tests into court-defensible digital proof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day, police, customs, and narcotics officers inspect suspected contraband using colorimetric chemical pouches. FieldVerify AI solves the three fatal vulnerabilities of visual inspection without requiring costly handheld spectrometers.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493008" cy="3840480"/>
          </a:xfrm>
          <a:prstGeom prst="roundRect">
            <a:avLst>
              <a:gd name="adj" fmla="val 23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172A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49631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FEE2E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9631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127248" y="242316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29443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Subjective &amp; Vulnerable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294436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Reagent color change is judged entirely by human eye under erratic ambient lighting (streetlights, sun glare, darkness). Officers differ in color perception, and zero contemporaneously recorded proof exists.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5166360"/>
            <a:ext cx="294436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5303520"/>
            <a:ext cx="29443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High rate of contested field seizures in court.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34256" y="2240280"/>
            <a:ext cx="3493008" cy="3840480"/>
          </a:xfrm>
          <a:prstGeom prst="roundRect">
            <a:avLst>
              <a:gd name="adj" fmla="val 23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172A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08576" y="249631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CFFAFE"/>
          </a:solidFill>
          <a:ln/>
        </p:spPr>
      </p:sp>
      <p:sp>
        <p:nvSpPr>
          <p:cNvPr id="15" name="Text 13"/>
          <p:cNvSpPr/>
          <p:nvPr/>
        </p:nvSpPr>
        <p:spPr>
          <a:xfrm>
            <a:off x="4608576" y="249631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INNOVATION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912864" y="242316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608576" y="2971800"/>
            <a:ext cx="29443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 Vision + Reference Card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08576" y="3474720"/>
            <a:ext cx="294436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in-frame standard reference color card (with fiducial markers) normalizes lighting, white balance, and lens distortion. Automated CV classifies color delta into Positive, Negative, or Inconclusive.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08576" y="5166360"/>
            <a:ext cx="294436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08576" y="5303520"/>
            <a:ext cx="29443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Scientific consistency across 100% of officers.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19872" y="2240280"/>
            <a:ext cx="3493008" cy="3840480"/>
          </a:xfrm>
          <a:prstGeom prst="roundRect">
            <a:avLst>
              <a:gd name="adj" fmla="val 23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172A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394192" y="249631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D1FAE5"/>
          </a:solidFill>
          <a:ln/>
        </p:spPr>
      </p:sp>
      <p:sp>
        <p:nvSpPr>
          <p:cNvPr id="23" name="Text 21"/>
          <p:cNvSpPr/>
          <p:nvPr/>
        </p:nvSpPr>
        <p:spPr>
          <a:xfrm>
            <a:off x="8394192" y="249631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ASSURANCE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698480" y="242316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8394192" y="2971800"/>
            <a:ext cx="29443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Cryptographic Tamper-Seal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394192" y="3474720"/>
            <a:ext cx="294436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seals timestamp, GPS location, officer ID, and an irreversible SHA-256 hash of the raw image into a verifiable digital certificate before the officer leaves the scene.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394192" y="5166360"/>
            <a:ext cx="294436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94192" y="5303520"/>
            <a:ext cx="29443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Airtight chain-of-custody under Indian Evidence Act.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FieldVerify AI · Presumptive Field Drug Testing Companion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ANALYSIS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visual colorimetric tests routinely fail in judicial scrutiny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675120" cy="470916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172A">
                <a:alpha val="9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3736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Anatomy of Field Failure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Subjective Human Interpretation &amp; Metamerism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6126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officers read shades like 'purplish-blue' vs 'violet-brown'. In night patrols, sodium-vapor streetlamps or car headlights distort wavelengths drastically, leading to high inter-officer divergence.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Lack of Standardized Benchmarks in the Field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429000"/>
            <a:ext cx="6126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Presumptive color charts are printed on paper brochures that fade with moisture and age. There is no calibrated baseline for camera exposure or ambient lux levels.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406908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Complete Evidentiary Vacuum at Point-of-Seizure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4343400"/>
            <a:ext cx="6126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Currently, no contemporaneous digital log proves the test was conducted at that exact location and time. Defense counsel routinely allege evidence planting or retrospective test logging.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498348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High Stakes for Law Enforcement &amp; Citizens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5257800"/>
            <a:ext cx="6126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false positive causes unlawful detention and litigation against the state; a false negative lets illicit narcotic shipments pass through checkpoints unnoticed.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543800" y="1508760"/>
            <a:ext cx="4069080" cy="1417320"/>
          </a:xfrm>
          <a:prstGeom prst="roundRect">
            <a:avLst>
              <a:gd name="adj" fmla="val 5806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25400" dir="5400000">
              <a:srgbClr val="0F172A">
                <a:alpha val="9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818120" y="164592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70%+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7818120" y="224028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narcotics field seizures face courtroom challenges on procedural grounds regarding field presumptive testing.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543800" y="3154680"/>
            <a:ext cx="4069080" cy="1417320"/>
          </a:xfrm>
          <a:prstGeom prst="roundRect">
            <a:avLst>
              <a:gd name="adj" fmla="val 580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5400000">
              <a:srgbClr val="0F172A">
                <a:alpha val="9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818120" y="32918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₹10 - 25 Lakhs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818120" y="388620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unit for handheld Raman/FTIR spectrometers — completely unviable to deploy to every beat patrol officer.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543800" y="4800600"/>
            <a:ext cx="4069080" cy="1417320"/>
          </a:xfrm>
          <a:prstGeom prst="roundRect">
            <a:avLst>
              <a:gd name="adj" fmla="val 5806"/>
            </a:avLst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9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818120" y="493776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NDPS Act &amp; BSA Stricture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818120" y="530352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50/52 NDPS Act and Section 63/65B Bharatiya Sakshya Adhiniyam demand unbroken contemporaneous electronic chain of custody.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FieldVerify AI · Presumptive Field Drug Testing Companion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FEASIBILITY ANALYSIS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naive camera photo fails — and how our pipeline fixes 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taking a photo of a chemical tube with a standard phone camera fails forensic standards. Modern mobile cameras dynamically alter colors through aggressive computational photography. Here is the optical engineering reality: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172A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423160"/>
            <a:ext cx="475488" cy="475488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4231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417320" y="240487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White Balance (AWB)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898648"/>
            <a:ext cx="4800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Photo Flaw: Smartphone ISPs continuously rebalance color temperature. A cobalt blue test looks dark indigo under LED flash and teal under sodium vapor.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4800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FieldVerify Solution: Reference White &amp; Gray Swatch: Forces hardware-level chromatic adaptation using von Kries / Bradford matrix normalization.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63640" y="214884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172A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37960" y="2423160"/>
            <a:ext cx="475488" cy="475488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24231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132320" y="240487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Plastic Pouch Specular Glare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37960" y="2898648"/>
            <a:ext cx="4800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Photo Flaw: Colorimetric pouches are transparent plastic films that produce intense white glare spots that blind pixel analysis algorithms.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37960" y="3474720"/>
            <a:ext cx="4800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FieldVerify Solution: Multi-Zone ROI Filtering: Dynamic thresholding isolates non-glare, homogenous liquid reaction pixels with high saturation.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43484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172A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" y="4709160"/>
            <a:ext cx="475488" cy="475488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47091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417320" y="469087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Perspective Distortion &amp; Tilt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" y="5184648"/>
            <a:ext cx="4800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Photo Flaw: An officer holding a phone at a 30° angle distorts light reflection and color depth across the reaction window.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22960" y="5760720"/>
            <a:ext cx="4800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FieldVerify Solution: Fiducial ArUco Markers: Automatically warps the perspective back to an orthogonal top-down plane via 3x3 homography matrix.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63640" y="443484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172A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37960" y="4709160"/>
            <a:ext cx="475488" cy="475488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37960" y="47091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132320" y="469087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Non-Linear sRGB Color Spaces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537960" y="5184648"/>
            <a:ext cx="4800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Photo Flaw: sRGB Euclidean distance does not correspond to how human eyes or chemical reagents perceive wavelength shifts.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537960" y="5760720"/>
            <a:ext cx="4800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FieldVerify Solution: CIELAB (L*a*b*) Conversion: Uses CIEDE2000 ΔE* color difference formula for perceptual and chemical color precision.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FieldVerify AI · Presumptive Field Drug Testing Companion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synchronized engines inside a lightweight mobile app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FieldVerify AI operates as an intelligent companion app on standard Android / iOS devices, requiring zero external electronic hardware.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578608" cy="4114800"/>
          </a:xfrm>
          <a:prstGeom prst="roundRect">
            <a:avLst>
              <a:gd name="adj" fmla="val 3546"/>
            </a:avLst>
          </a:prstGeom>
          <a:solidFill>
            <a:srgbClr val="1E293B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377440"/>
            <a:ext cx="548640" cy="548640"/>
          </a:xfrm>
          <a:prstGeom prst="ellipse">
            <a:avLst/>
          </a:prstGeom>
          <a:solidFill>
            <a:srgbClr val="090E1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2029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Guided Optical Calibration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3794760"/>
            <a:ext cx="2029968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931920"/>
            <a:ext cx="202996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In-camera real-time AR bounding box guide</a:t>
            </a:r>
            <a:endParaRPr lang="en-US" sz="108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ArUco fiducial marker auto-detection</a:t>
            </a:r>
            <a:endParaRPr lang="en-US" sz="108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Homography matrix perspective rectification</a:t>
            </a:r>
            <a:endParaRPr lang="en-US" sz="108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Illuminant normalization using color card swatches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3374136" y="2057400"/>
            <a:ext cx="2578608" cy="4114800"/>
          </a:xfrm>
          <a:prstGeom prst="roundRect">
            <a:avLst>
              <a:gd name="adj" fmla="val 3546"/>
            </a:avLst>
          </a:prstGeom>
          <a:solidFill>
            <a:srgbClr val="1E293B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48456" y="2377440"/>
            <a:ext cx="548640" cy="548640"/>
          </a:xfrm>
          <a:prstGeom prst="ellipse">
            <a:avLst/>
          </a:prstGeom>
          <a:solidFill>
            <a:srgbClr val="090E1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48456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48456" y="3108960"/>
            <a:ext cx="2029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Reaction Classifier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648456" y="3794760"/>
            <a:ext cx="2029968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48456" y="3931920"/>
            <a:ext cx="202996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on validated forensic color spectra</a:t>
            </a:r>
            <a:endParaRPr lang="en-US" sz="108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Marquis, Scott, Duquenois-Levine, etc.</a:t>
            </a:r>
            <a:endParaRPr lang="en-US" sz="108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output: Positive, Negative, Inconclusive</a:t>
            </a:r>
            <a:endParaRPr lang="en-US" sz="108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 confidence threshold score (min 85%)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199632" y="2057400"/>
            <a:ext cx="2578608" cy="4114800"/>
          </a:xfrm>
          <a:prstGeom prst="roundRect">
            <a:avLst>
              <a:gd name="adj" fmla="val 3546"/>
            </a:avLst>
          </a:prstGeom>
          <a:solidFill>
            <a:srgbClr val="1E293B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73952" y="2377440"/>
            <a:ext cx="548640" cy="548640"/>
          </a:xfrm>
          <a:prstGeom prst="ellipse">
            <a:avLst/>
          </a:prstGeom>
          <a:solidFill>
            <a:srgbClr val="090E1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73952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73952" y="3108960"/>
            <a:ext cx="2029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Tamper-Evident Digital Seal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73952" y="3794760"/>
            <a:ext cx="2029968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73952" y="3931920"/>
            <a:ext cx="202996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Hardware-backed ECDSA key signature</a:t>
            </a:r>
            <a:endParaRPr lang="en-US" sz="108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SHA-256 hash (raw photo + calibrated ROI)</a:t>
            </a:r>
            <a:endParaRPr lang="en-US" sz="108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NTP + GPS coordinates bound into metadata</a:t>
            </a:r>
            <a:endParaRPr lang="en-US" sz="108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Non-repudiable audit certificate generated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9025128" y="2057400"/>
            <a:ext cx="2578608" cy="4114800"/>
          </a:xfrm>
          <a:prstGeom prst="roundRect">
            <a:avLst>
              <a:gd name="adj" fmla="val 3546"/>
            </a:avLst>
          </a:prstGeom>
          <a:solidFill>
            <a:srgbClr val="1E293B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99448" y="2377440"/>
            <a:ext cx="548640" cy="548640"/>
          </a:xfrm>
          <a:prstGeom prst="ellipse">
            <a:avLst/>
          </a:prstGeom>
          <a:solidFill>
            <a:srgbClr val="090E1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299448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299448" y="3108960"/>
            <a:ext cx="2029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Searchable Evidence Vault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299448" y="3794760"/>
            <a:ext cx="2029968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99448" y="3931920"/>
            <a:ext cx="202996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encrypted local SQLite datastore</a:t>
            </a:r>
            <a:endParaRPr lang="en-US" sz="108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Merkle hash chain prevents deletion or tampering</a:t>
            </a:r>
            <a:endParaRPr lang="en-US" sz="108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encrypted sync to central police portal</a:t>
            </a:r>
            <a:endParaRPr lang="en-US" sz="108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one-tap Section 65B PDF affidavit generation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FieldVerify AI · Presumptive Field Drug Testing Companion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WORKFLOW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Zero-friction workflow: from chemical reaction to evidence in 20 seconds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965960" cy="329184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172A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14600" y="2240280"/>
            <a:ext cx="310896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777240" y="2011680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325880" y="207568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65176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Mix Reagent &amp; Place Card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291840"/>
            <a:ext cx="1508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crushes reagent ampoules inside standard test kit pouch as per normal SOP. The kit is placed flat on the reusable reference card.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825496" y="1783080"/>
            <a:ext cx="1965960" cy="329184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172A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91456" y="2240280"/>
            <a:ext cx="310896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3054096" y="2011680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054096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02736" y="207568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54096" y="265176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Guided Camera Alignment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54096" y="3291840"/>
            <a:ext cx="1508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camera detects 4 ArUco corner fiducials. Green reticle confirms proper distance, focus, and absence of blinding specular reflection.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102352" y="1783080"/>
            <a:ext cx="1965960" cy="329184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172A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068312" y="2240280"/>
            <a:ext cx="310896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5330952" y="2011680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330952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879592" y="207568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30952" y="265176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Auto-Capture &amp; Normalization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30952" y="3291840"/>
            <a:ext cx="1508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snaps the frame. In under 500ms on-device, CIELAB color correction eliminates ambient light tint and isolates reaction zone.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379208" y="1783080"/>
            <a:ext cx="1965960" cy="329184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172A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345168" y="2240280"/>
            <a:ext cx="310896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7607808" y="2011680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607808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156448" y="207568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607808" y="265176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&amp; Confidence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607808" y="3291840"/>
            <a:ext cx="1508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algorithm determines outcome against validated forensic spectra: POSITIVE (96.4%), NEGATIVE, or INCONCLUSIVE.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656064" y="1783080"/>
            <a:ext cx="1965960" cy="329184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172A">
                <a:alpha val="9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884664" y="2011680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884664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0433304" y="207568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884664" y="265176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Cryptographic Seal &amp; Sync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884664" y="3291840"/>
            <a:ext cx="1508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hash, GPS, timestamp, and officer badge ID are signed into an immutable record. A QR-coded evidence certificate is saved.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5349240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0F172A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" y="5486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Crucial Field Rule: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22960" y="58064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ambient lighting is extreme or reaction is ambiguous, the app strictly flags 'INCONCLUSIVE' and instructs the officer to re-test in shaded light or send directly to FSL — eliminating false positives.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FieldVerify AI · Presumptive Field Drug Testing Companion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DEEP-DIVE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reference card: passive optical hardware with zero battery or cost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470916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172A">
                <a:alpha val="9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Calibration Card Design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4800600" cy="192024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331720"/>
            <a:ext cx="411480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Shape 6"/>
          <p:cNvSpPr/>
          <p:nvPr/>
        </p:nvSpPr>
        <p:spPr>
          <a:xfrm>
            <a:off x="5212080" y="2331720"/>
            <a:ext cx="411480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Shape 7"/>
          <p:cNvSpPr/>
          <p:nvPr/>
        </p:nvSpPr>
        <p:spPr>
          <a:xfrm>
            <a:off x="960120" y="3566160"/>
            <a:ext cx="411480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212080" y="3566160"/>
            <a:ext cx="411480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Shape 9"/>
          <p:cNvSpPr/>
          <p:nvPr/>
        </p:nvSpPr>
        <p:spPr>
          <a:xfrm>
            <a:off x="1600200" y="2423160"/>
            <a:ext cx="1005840" cy="59436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00200" y="278892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95%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743200" y="2423160"/>
            <a:ext cx="1005840" cy="594360"/>
          </a:xfrm>
          <a:prstGeom prst="roundRect">
            <a:avLst>
              <a:gd name="adj" fmla="val 6154"/>
            </a:avLst>
          </a:prstGeom>
          <a:solidFill>
            <a:srgbClr val="94A3B8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278892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Gray 18%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886200" y="2423160"/>
            <a:ext cx="1005840" cy="594360"/>
          </a:xfrm>
          <a:prstGeom prst="roundRect">
            <a:avLst>
              <a:gd name="adj" fmla="val 6154"/>
            </a:avLst>
          </a:prstGeom>
          <a:solidFill>
            <a:srgbClr val="1E40A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86200" y="278892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Cobalt Blue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600200" y="3154680"/>
            <a:ext cx="1005840" cy="594360"/>
          </a:xfrm>
          <a:prstGeom prst="roundRect">
            <a:avLst>
              <a:gd name="adj" fmla="val 6154"/>
            </a:avLst>
          </a:prstGeom>
          <a:solidFill>
            <a:srgbClr val="7E22CE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352044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Marquis Violet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743200" y="3154680"/>
            <a:ext cx="1005840" cy="594360"/>
          </a:xfrm>
          <a:prstGeom prst="roundRect">
            <a:avLst>
              <a:gd name="adj" fmla="val 6154"/>
            </a:avLst>
          </a:prstGeom>
          <a:solidFill>
            <a:srgbClr val="581C87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0" y="352044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Cannabis Violet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886200" y="3154680"/>
            <a:ext cx="1005840" cy="594360"/>
          </a:xfrm>
          <a:prstGeom prst="roundRect">
            <a:avLst>
              <a:gd name="adj" fmla="val 6154"/>
            </a:avLst>
          </a:prstGeom>
          <a:solidFill>
            <a:srgbClr val="0F172A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86200" y="352044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Black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822960" y="43434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Specifications: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466344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 anti-reflective laminated synthetic polymer (waterproof, oil-proof)</a:t>
            </a:r>
            <a:endParaRPr lang="en-US" sz="108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credit card size (85.6mm × 53.98mm) fitting in officer's pocket</a:t>
            </a:r>
            <a:endParaRPr lang="en-US" sz="108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cost: Under ₹10 per card; packaged with standard chemical test boxes</a:t>
            </a:r>
            <a:endParaRPr lang="en-US" sz="108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Serialized QR code ties the physical card calibration batch to factory spectrophotometer data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6263640" y="1508760"/>
            <a:ext cx="5349240" cy="470916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172A">
                <a:alpha val="9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3796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Mathematical Color Normalization Engine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37960" y="22402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ArUco Pose &amp; Homography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37960" y="2496312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3×3 perspective transform matrix H to warp non-perpendicular smartphone photo into a flat, standardized 1000×600 pixel coordinate plane.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537960" y="313639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White Point Normalization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37960" y="3392424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White (95% reflectance) and 18% Gray swatches. Computes chromatic adaptation transform (CAT) using linearized Bradford matrices.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537960" y="403250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Glare &amp; Specular Reflection Masking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37960" y="4288536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local variance and brightness gradient. Pixels with V &gt; 0.95 in HSV space are masked out to prevent plastic reflections from skewing color averages.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537960" y="492861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CIELAB Perceptual Color Delta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537960" y="5184648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Euclidean ΔE* (CIE 1976) and CIEDE2000 ΔE00 against certified chemical reagent spectra database. Accounts for human eye non-linear sensitivity.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FieldVerify AI · Presumptive Field Drug Testing Companion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REAGENT INTELLIGENCE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chemical field tests supported by FieldVerify AI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FieldVerify AI maps calibrated color coordinates to standard forensic reagents recognized by UNODC, NIJ, and the Central Forensic Science Laboratory (CFSL):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4206240"/>
        </p:xfrm>
        <a:graphic>
          <a:graphicData uri="http://schemas.openxmlformats.org/drawingml/2006/table">
            <a:tbl>
              <a:tblPr/>
              <a:tblGrid>
                <a:gridCol w="2468880"/>
                <a:gridCol w="2103120"/>
                <a:gridCol w="2286000"/>
                <a:gridCol w="2103120"/>
                <a:gridCol w="2103120"/>
              </a:tblGrid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Field Test Kit Reagent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Target Controlled Substance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Expected Chemical Reaction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CIELAB Target Window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Companion Classification Rule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</a:rPr>
                        <a:t>Scott Reagent (Cobalt Thiocyanate)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Cocaine HCl / Crack</a:t>
                      </a:r>
                      <a:endParaRPr lang="en-US" sz="10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Cobalt blue precipitate in chloroform layer</a:t>
                      </a:r>
                      <a:endParaRPr lang="en-US" sz="10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891B2"/>
                          </a:solidFill>
                        </a:rPr>
                        <a:t>L*: 25-35, a*: -5 to +5, b*: -45 to -60</a:t>
                      </a:r>
                      <a:endParaRPr lang="en-US" sz="9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POSITIVE (ΔE00 &lt; 6.5 vs Cocaine Base)</a:t>
                      </a:r>
                      <a:endParaRPr lang="en-US" sz="10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</a:rPr>
                        <a:t>Marquis Reagent (Formaldehyde/H2SO4)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Heroin, Morphine, Codeine</a:t>
                      </a:r>
                      <a:endParaRPr lang="en-US" sz="10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Deep purple to dark violet transition</a:t>
                      </a:r>
                      <a:endParaRPr lang="en-US" sz="10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891B2"/>
                          </a:solidFill>
                        </a:rPr>
                        <a:t>L*: 15-28, a*: +25 to +40, b*: -20 to -35</a:t>
                      </a:r>
                      <a:endParaRPr lang="en-US" sz="9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POSITIVE (Opiate Class, ΔE00 &lt; 5.8)</a:t>
                      </a:r>
                      <a:endParaRPr lang="en-US" sz="10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</a:rPr>
                        <a:t>Marquis Reagent (Alternative)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Amphetamine / Methamphetamine</a:t>
                      </a:r>
                      <a:endParaRPr lang="en-US" sz="10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Orange-red to deep reddish brown</a:t>
                      </a:r>
                      <a:endParaRPr lang="en-US" sz="10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891B2"/>
                          </a:solidFill>
                        </a:rPr>
                        <a:t>L*: 35-50, a*: +35 to +50, b*: +30 to +45</a:t>
                      </a:r>
                      <a:endParaRPr lang="en-US" sz="9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POSITIVE (Amphetamine Class, ΔE00 &lt; 7.0)</a:t>
                      </a:r>
                      <a:endParaRPr lang="en-US" sz="10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</a:rPr>
                        <a:t>Duquenois-Levine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Cannabis / Marijuana (THC)</a:t>
                      </a:r>
                      <a:endParaRPr lang="en-US" sz="10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Dark purple-indigo in bottom layer</a:t>
                      </a:r>
                      <a:endParaRPr lang="en-US" sz="10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891B2"/>
                          </a:solidFill>
                        </a:rPr>
                        <a:t>L*: 20-30, a*: +18 to +30, b*: -25 to -40</a:t>
                      </a:r>
                      <a:endParaRPr lang="en-US" sz="9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POSITIVE (Cannabinoid, ΔE00 &lt; 6.0)</a:t>
                      </a:r>
                      <a:endParaRPr lang="en-US" sz="10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</a:rPr>
                        <a:t>Any Reagent (Ambiguous Reaction)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Unknown Cutting Agent / Adulterant</a:t>
                      </a:r>
                      <a:endParaRPr lang="en-US" sz="10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Muddled grayish brown / no distinct band</a:t>
                      </a:r>
                      <a:endParaRPr lang="en-US" sz="10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9E0B"/>
                          </a:solidFill>
                        </a:rPr>
                        <a:t>Out-of-bounds ΔE00 &gt; 12.0 or Low Saturation</a:t>
                      </a:r>
                      <a:endParaRPr lang="en-US" sz="9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INCONCLUSIVE (Mandatory Lab Route)</a:t>
                      </a:r>
                      <a:endParaRPr lang="en-US" sz="10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FieldVerify AI · Presumptive Field Drug Testing Companion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EVIDENTIARY INTEGRITY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the digital record mathematically tamper-evident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75488" cy="475488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88720" y="1691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Immutable Device Timestamp &amp; GPS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88720" y="201168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Hardware-enforced GPS coordinates locked with NTP-synchronized atomic time. Anti-spoofing flags prevent GPS spoofing apps or system clock tampering.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475488" cy="475488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8803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88720" y="2834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 SHA-256 Cryptographic Hashing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88720" y="315468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two distinct cryptographic fingerprints: Hash #1 of the raw uncompressed camera frame, and Hash #2 of the calibrated reaction ROI. Any 1-pixel change voids the seal.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475488" cy="475488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0233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188720" y="3977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Keystore ECDSA Signature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88720" y="429768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payload (hashes + GPS + time + officer ID) is digitally signed using private keys anchored in Android Keystore / iOS Secure Enclave (FIPS 140-2 Level 2).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166360"/>
            <a:ext cx="475488" cy="475488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1663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88720" y="5120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Merkle Chaining &amp; Audit Ledger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88720" y="544068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test record on the device is cryptographically linked to the previous test record in a local append-only Merkle chain, making selective deletion mathematically detectable.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1600200"/>
            <a:ext cx="5212080" cy="4572000"/>
          </a:xfrm>
          <a:prstGeom prst="roundRect">
            <a:avLst>
              <a:gd name="adj" fmla="val 2400"/>
            </a:avLst>
          </a:prstGeom>
          <a:solidFill>
            <a:srgbClr val="0F172A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20840" y="1920240"/>
            <a:ext cx="502920" cy="502920"/>
          </a:xfrm>
          <a:prstGeom prst="ellipse">
            <a:avLst/>
          </a:prstGeom>
          <a:solidFill>
            <a:srgbClr val="090E1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72084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360920" y="18928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EVIDENTIARY DIGITAL CERTIFICATE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360920" y="21945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via Hardware Keystore · Presumptive Screening Proof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720840" y="26517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Record UID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8915400" y="2651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FV-2026-0908-8419X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720840" y="2971800"/>
            <a:ext cx="4572000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20840" y="299923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(NTP)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8915400" y="299923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08-Sep-2026 20:25:12 IST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720840" y="3319272"/>
            <a:ext cx="4572000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20840" y="334670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Geofence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8915400" y="334670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26.1445° N, 91.7362° E (Guwahati)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720840" y="3666744"/>
            <a:ext cx="4572000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20840" y="369417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ID / Badge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8915400" y="369417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AS-CID-9942 (Sub-Inspector R. Barua)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720840" y="4014216"/>
            <a:ext cx="4572000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20840" y="404164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Reagent Applied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8915400" y="40416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Scott Reagent (Kit Lot #SC-8812)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720840" y="4361688"/>
            <a:ext cx="4572000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20840" y="43891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Outcome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8915400" y="4389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· Cocaine HCl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720840" y="4709160"/>
            <a:ext cx="4572000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20840" y="473659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Metric</a:t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8915400" y="473659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97.8% (CIEDE2000 ΔE00: 2.1)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720840" y="5056632"/>
            <a:ext cx="4572000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20840" y="508406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Frame SHA-256</a:t>
            </a:r>
            <a:endParaRPr lang="en-US" sz="980" dirty="0"/>
          </a:p>
        </p:txBody>
      </p:sp>
      <p:sp>
        <p:nvSpPr>
          <p:cNvPr id="47" name="Text 45"/>
          <p:cNvSpPr/>
          <p:nvPr/>
        </p:nvSpPr>
        <p:spPr>
          <a:xfrm>
            <a:off x="8915400" y="508406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e3b0c44298fc1c149afbf4c8...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720840" y="5404104"/>
            <a:ext cx="4572000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720840" y="543153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ROI SHA-256</a:t>
            </a:r>
            <a:endParaRPr lang="en-US" sz="980" dirty="0"/>
          </a:p>
        </p:txBody>
      </p:sp>
      <p:sp>
        <p:nvSpPr>
          <p:cNvPr id="50" name="Text 48"/>
          <p:cNvSpPr/>
          <p:nvPr/>
        </p:nvSpPr>
        <p:spPr>
          <a:xfrm>
            <a:off x="8915400" y="543153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7f83b1657ff1fc53b92dc181...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720840" y="5751576"/>
            <a:ext cx="4572000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20840" y="577900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ECDSA Signature</a:t>
            </a:r>
            <a:endParaRPr lang="en-US" sz="980" dirty="0"/>
          </a:p>
        </p:txBody>
      </p:sp>
      <p:sp>
        <p:nvSpPr>
          <p:cNvPr id="53" name="Text 51"/>
          <p:cNvSpPr/>
          <p:nvPr/>
        </p:nvSpPr>
        <p:spPr>
          <a:xfrm>
            <a:off x="8915400" y="57790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&amp; ANCHORED ✓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FieldVerify AI · Presumptive Field Drug Testing Companion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FRAMEWORK &amp; JUDICIAL COMPLIANCE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Presumptive boundary: strengthening evidence without overstepping forensic law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frequent downfall of technology projects in policing is claiming to 'replace' forensic labs. FieldVerify AI strictly and explicitly establishes itself as a Presumptive Field Screening Tool that complies fully with Indian Evidence Laws.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49240" cy="3291840"/>
          </a:xfrm>
          <a:prstGeom prst="roundRect">
            <a:avLst>
              <a:gd name="adj" fmla="val 2500"/>
            </a:avLst>
          </a:prstGeom>
          <a:solidFill>
            <a:srgbClr val="F0FDF4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423160"/>
            <a:ext cx="2011680" cy="320040"/>
          </a:xfrm>
          <a:prstGeom prst="roundRect">
            <a:avLst>
              <a:gd name="adj" fmla="val 17143"/>
            </a:avLst>
          </a:prstGeom>
          <a:solidFill>
            <a:srgbClr val="D1FAE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23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FIELDVERIFY AI DOES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Defensible Field Presumptive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337560"/>
            <a:ext cx="4754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objective, calibrated basis for initial arrest, seizure, and FIR registration under NDPS Act Section 50/52.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arbitrary officer bias and ambient light misinterpretations at the scene of crime.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an electronic audit trail admissible under Section 63/65B of the Bharatiya Sakshya Adhiniyam (BSA 2023).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immediate tamper-sealed PDF certificates with verification QR codes for remand applications before magistrates.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2148840"/>
            <a:ext cx="5349240" cy="3291840"/>
          </a:xfrm>
          <a:prstGeom prst="roundRect">
            <a:avLst>
              <a:gd name="adj" fmla="val 2500"/>
            </a:avLst>
          </a:prstGeom>
          <a:solidFill>
            <a:srgbClr val="FEF2F2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37960" y="2423160"/>
            <a:ext cx="2194560" cy="320040"/>
          </a:xfrm>
          <a:prstGeom prst="roundRect">
            <a:avLst>
              <a:gd name="adj" fmla="val 17143"/>
            </a:avLst>
          </a:prstGeom>
          <a:solidFill>
            <a:srgbClr val="FEE2E2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24231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NOT CLAIM TO DO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37960" y="2880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Not Replace Confirmatory Lab Testing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37960" y="3337560"/>
            <a:ext cx="4754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replace GC-MS (Gas Chromatography-Mass Spectrometry) or HPLC analytical testing conducted by State FSL or CFSL.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claim final quantitative forensic purity determination (e.g. distinguishing 82% purity from 45% purity).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physical contraband sample chain-of-custody for standard chemical laboratory confirmation prior to court trial.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an unshakeable bridge between roadside seizure and forensic lab receipt.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5623560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7150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Compliance Architecture: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" y="596188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Complies with Supreme Court guidelines on electronic evidence handling (Arjun Panditrao Khotkar v. Kailash Kushanrao) and NDPS Standing Order 1/88 regarding field seizure sampling.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FieldVerify AI · Presumptive Field Drug Testing Companion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On-device edge intelligence with secure department sync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E293B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27248" y="3611880"/>
            <a:ext cx="246888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77240" y="2011680"/>
            <a:ext cx="2121408" cy="320040"/>
          </a:xfrm>
          <a:prstGeom prst="roundRect">
            <a:avLst>
              <a:gd name="adj" fmla="val 14286"/>
            </a:avLst>
          </a:prstGeom>
          <a:solidFill>
            <a:srgbClr val="090E17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11680"/>
            <a:ext cx="2121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1: FIELD MOBILE LAYER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77240" y="2441448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Offline-First Android / iOS App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926080"/>
            <a:ext cx="2029968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108960"/>
            <a:ext cx="2121408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Camera2 / AVFoundation API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Mobile (ArUco, CAT)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TFLite Color Model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Keystore (ECDSA)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Encrypted SQLite (SQLCipher)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74136" y="178308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E293B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52744" y="3611880"/>
            <a:ext cx="246888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602736" y="2011680"/>
            <a:ext cx="2121408" cy="320040"/>
          </a:xfrm>
          <a:prstGeom prst="roundRect">
            <a:avLst>
              <a:gd name="adj" fmla="val 14286"/>
            </a:avLst>
          </a:prstGeom>
          <a:solidFill>
            <a:srgbClr val="090E17"/>
          </a:solidFill>
          <a:ln/>
        </p:spPr>
      </p:sp>
      <p:sp>
        <p:nvSpPr>
          <p:cNvPr id="14" name="Text 12"/>
          <p:cNvSpPr/>
          <p:nvPr/>
        </p:nvSpPr>
        <p:spPr>
          <a:xfrm>
            <a:off x="3602736" y="2011680"/>
            <a:ext cx="2121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2: INTEGRITY GATEWAY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02736" y="2441448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Zero-Trust Sync Protocol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48456" y="2926080"/>
            <a:ext cx="2029968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02736" y="3108960"/>
            <a:ext cx="2121408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 Encrypted Transport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NTP Clock Drift Verifier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Spoofing &amp; Root Detection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Offline Sync Queue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Officer Biometric Auth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99632" y="178308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E293B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0" y="3611880"/>
            <a:ext cx="246888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428232" y="2011680"/>
            <a:ext cx="2121408" cy="320040"/>
          </a:xfrm>
          <a:prstGeom prst="roundRect">
            <a:avLst>
              <a:gd name="adj" fmla="val 14286"/>
            </a:avLst>
          </a:prstGeom>
          <a:solidFill>
            <a:srgbClr val="090E17"/>
          </a:solidFill>
          <a:ln/>
        </p:spPr>
      </p:sp>
      <p:sp>
        <p:nvSpPr>
          <p:cNvPr id="21" name="Text 19"/>
          <p:cNvSpPr/>
          <p:nvPr/>
        </p:nvSpPr>
        <p:spPr>
          <a:xfrm>
            <a:off x="6428232" y="2011680"/>
            <a:ext cx="2121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3: CENTRAL EVIDENCE REPO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28232" y="2441448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Police HQ &amp; NCB Cloud / On-Prem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73952" y="2926080"/>
            <a:ext cx="2029968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28232" y="3108960"/>
            <a:ext cx="2121408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/ Go Core Microservices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 Storage (MinIO / S3 Object Lock)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Relational Audit DB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Merkle Tree Verification Root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Section 65B PDF Engine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025128" y="178308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E293B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53728" y="2011680"/>
            <a:ext cx="2121408" cy="320040"/>
          </a:xfrm>
          <a:prstGeom prst="roundRect">
            <a:avLst>
              <a:gd name="adj" fmla="val 14286"/>
            </a:avLst>
          </a:prstGeom>
          <a:solidFill>
            <a:srgbClr val="090E17"/>
          </a:solidFill>
          <a:ln/>
        </p:spPr>
      </p:sp>
      <p:sp>
        <p:nvSpPr>
          <p:cNvPr id="27" name="Text 25"/>
          <p:cNvSpPr/>
          <p:nvPr/>
        </p:nvSpPr>
        <p:spPr>
          <a:xfrm>
            <a:off x="9253728" y="2011680"/>
            <a:ext cx="2121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4: JUDICIAL &amp; LAB PORTAL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253728" y="2441448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Dashboard &amp; Verification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299448" y="2926080"/>
            <a:ext cx="2029968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53728" y="3108960"/>
            <a:ext cx="2121408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(RBAC)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Seizure Map Analytics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FSL Lab Intake Integration (LIMS)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QR Verification Endpoint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Court-Ready Evidence Dossier Export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FieldVerify AI · Presumptive Field Drug Testing Companion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ERGONOMICS &amp; UX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Engineered for high-stress field conditions and gloved operation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493008" cy="4709160"/>
          </a:xfrm>
          <a:prstGeom prst="roundRect">
            <a:avLst>
              <a:gd name="adj" fmla="val 23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172A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37360"/>
            <a:ext cx="3035808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37360"/>
            <a:ext cx="2852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Capture &amp; AR Reticle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2423160"/>
            <a:ext cx="1463040" cy="320040"/>
          </a:xfrm>
          <a:prstGeom prst="roundRect">
            <a:avLst>
              <a:gd name="adj" fmla="val 17143"/>
            </a:avLst>
          </a:prstGeom>
          <a:solidFill>
            <a:srgbClr val="FEF3C7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4231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ALIGNING...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8680" y="2880360"/>
            <a:ext cx="2852928" cy="3017520"/>
          </a:xfrm>
          <a:prstGeom prst="roundRect">
            <a:avLst>
              <a:gd name="adj" fmla="val 256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063240"/>
            <a:ext cx="257860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✓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AR overlay detects card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✓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-&gt; Green reticle on lock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✓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Glare detector gives audio beep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✓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'Hold steady for 1.2s' prompt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✓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high-contrast shutter button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34256" y="1508760"/>
            <a:ext cx="3493008" cy="4709160"/>
          </a:xfrm>
          <a:prstGeom prst="roundRect">
            <a:avLst>
              <a:gd name="adj" fmla="val 23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172A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62856" y="1737360"/>
            <a:ext cx="3035808" cy="50292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4654296" y="1737360"/>
            <a:ext cx="2852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Instant Classification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00016" y="2423160"/>
            <a:ext cx="1463040" cy="320040"/>
          </a:xfrm>
          <a:prstGeom prst="roundRect">
            <a:avLst>
              <a:gd name="adj" fmla="val 17143"/>
            </a:avLst>
          </a:prstGeom>
          <a:solidFill>
            <a:srgbClr val="D1FAE5"/>
          </a:solidFill>
          <a:ln/>
        </p:spPr>
      </p:sp>
      <p:sp>
        <p:nvSpPr>
          <p:cNvPr id="15" name="Text 13"/>
          <p:cNvSpPr/>
          <p:nvPr/>
        </p:nvSpPr>
        <p:spPr>
          <a:xfrm>
            <a:off x="4700016" y="24231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54296" y="2880360"/>
            <a:ext cx="2852928" cy="3017520"/>
          </a:xfrm>
          <a:prstGeom prst="roundRect">
            <a:avLst>
              <a:gd name="adj" fmla="val 256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3063240"/>
            <a:ext cx="257860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✓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extracted: Cobalt Blue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✓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ΔE00: 2.1 (Very High Confidence)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✓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POSITIVE FOR COCAINE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✓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97.4%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✓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Presumptive advisory banner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19872" y="1508760"/>
            <a:ext cx="3493008" cy="4709160"/>
          </a:xfrm>
          <a:prstGeom prst="roundRect">
            <a:avLst>
              <a:gd name="adj" fmla="val 23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172A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48472" y="1737360"/>
            <a:ext cx="3035808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/>
        </p:spPr>
      </p:sp>
      <p:sp>
        <p:nvSpPr>
          <p:cNvPr id="20" name="Text 18"/>
          <p:cNvSpPr/>
          <p:nvPr/>
        </p:nvSpPr>
        <p:spPr>
          <a:xfrm>
            <a:off x="8439912" y="1737360"/>
            <a:ext cx="2852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Cryptographic Sealed Receipt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485632" y="2423160"/>
            <a:ext cx="1463040" cy="320040"/>
          </a:xfrm>
          <a:prstGeom prst="roundRect">
            <a:avLst>
              <a:gd name="adj" fmla="val 17143"/>
            </a:avLst>
          </a:prstGeom>
          <a:solidFill>
            <a:srgbClr val="CFFAFE"/>
          </a:solidFill>
          <a:ln/>
        </p:spPr>
      </p:sp>
      <p:sp>
        <p:nvSpPr>
          <p:cNvPr id="22" name="Text 20"/>
          <p:cNvSpPr/>
          <p:nvPr/>
        </p:nvSpPr>
        <p:spPr>
          <a:xfrm>
            <a:off x="8485632" y="24231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 ✓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439912" y="2880360"/>
            <a:ext cx="2852928" cy="3017520"/>
          </a:xfrm>
          <a:prstGeom prst="roundRect">
            <a:avLst>
              <a:gd name="adj" fmla="val 256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77072" y="3063240"/>
            <a:ext cx="257860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✓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ID: FV-2026-8419X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✓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 displayed &amp; locked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✓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Coordinates: Lat 26.14, Lng 91.73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✓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'Generate FIR Annexure'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✓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Auto-synced to District Evidence Vault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FieldVerify AI · Presumptive Field Drug Testing Companion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INTELLIGENCE &amp; OVERSIGHT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Searchable audit log, heatmaps, and judicial evidence export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470916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172A">
                <a:alpha val="9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Forensic Evidence Management Portal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Multi-Parameter Search &amp; Filter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496312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query tens of thousands of field tests by Date, Precinct, Officer Badge, Drug Category, Reagent Lot Number, or Case Crime Number.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313639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Audit History &amp; Immutability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392424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 shows exact time of capture, synchronization time, and cryptographic verification status. Zero record deletion permitted under any role.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403250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Court-Ready Section 65B Electronic Certificates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4288536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generation of court affidavits containing test telemetry, cryptographic hashes, officer digital signature, and QR code for magistrate verification.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492861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FSL / CFSL Handover Tracking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5184648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physical samples reach the forensic laboratory, lab technicians scan the QR code to verify that the field chemical seal matches the physical pouch.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63640" y="1508760"/>
            <a:ext cx="5349240" cy="470916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172A">
                <a:alpha val="9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3796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Narcotics Trend &amp; Heatmap Intelligence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37960" y="2240280"/>
            <a:ext cx="4800600" cy="109728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6720840" y="2377440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Transit Corridor Hotspots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720840" y="2679192"/>
            <a:ext cx="4434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geofence clustering flags high-frequency seizure nodes across highway toll gates and border checkpoints.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37960" y="3474720"/>
            <a:ext cx="4800600" cy="109728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6720840" y="3611880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Reagent Batch Quality Control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720840" y="3913632"/>
            <a:ext cx="4434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anomalous 'Inconclusive' rates across reagent kit lots to alert departments of degraded or expired chemical ampoules.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37960" y="4709160"/>
            <a:ext cx="4800600" cy="109728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</p:spPr>
      </p:sp>
      <p:sp>
        <p:nvSpPr>
          <p:cNvPr id="23" name="Text 21"/>
          <p:cNvSpPr/>
          <p:nvPr/>
        </p:nvSpPr>
        <p:spPr>
          <a:xfrm>
            <a:off x="6720840" y="4846320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Officer Training &amp; Compliance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720840" y="5148072"/>
            <a:ext cx="4434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proper reference card positioning compliance and flags officers requiring retraining on chemical test protocols.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FieldVerify AI · Presumptive Field Drug Testing Companion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FieldVerify AI is the most viable path for mass law enforcement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4572000"/>
        </p:xfrm>
        <a:graphic>
          <a:graphicData uri="http://schemas.openxmlformats.org/drawingml/2006/table">
            <a:tbl>
              <a:tblPr/>
              <a:tblGrid>
                <a:gridCol w="2560320"/>
                <a:gridCol w="2651760"/>
                <a:gridCol w="2834640"/>
                <a:gridCol w="3017520"/>
              </a:tblGrid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Evaluation Criteria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Status Quo: Visual Eye Reading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Handheld Raman / FTIR Spectrometers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FieldVerify AI Companion (Our Solution)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</a:rPr>
                        <a:t>Capital Hardware Cost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</a:rPr>
                        <a:t>₹0 (Uses existing test kits)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</a:rPr>
                        <a:t>₹10 to 25 Lakhs per unit (Prohibitive)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</a:rPr>
                        <a:t>₹0 (Zero new hardware; ₹10 card)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</a:rPr>
                        <a:t>Lighting &amp; Color Calibration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</a:rPr>
                        <a:t>None (Highly prone to ambient errors)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</a:rPr>
                        <a:t>Laser spectrometry (High precision)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</a:rPr>
                        <a:t>Dynamic CIELAB + Reference Card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</a:rPr>
                        <a:t>Cryptographic Tamper-Proofing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</a:rPr>
                        <a:t>None (Handwritten paper memos)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</a:rPr>
                        <a:t>Proprietary internal device storage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</a:rPr>
                        <a:t>SHA-256 Dual Hash + Hardware Keystore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</a:rPr>
                        <a:t>Deployment Scalability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</a:rPr>
                        <a:t>Already deployed everywhere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</a:rPr>
                        <a:t>Extremely low (Few units per state HQ)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</a:rPr>
                        <a:t>Instant pan-state rollout via App Store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</a:rPr>
                        <a:t>Judicial Defensibility (BSA / NDPS)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</a:rPr>
                        <a:t>Regularly contested and thrown out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</a:rPr>
                        <a:t>Accepted but rare in beat patrols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</a:rPr>
                        <a:t>Unbroken electronic chain-of-custody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FieldVerify AI · Presumptive Field Drug Testing Companion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&amp; EDGE CASES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Engineered to withstand field abuse, fraud attempts, and harsh weather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172A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2103120" cy="2743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116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ATTACK BLOCKED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22960" y="2404872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if an officer points the camera at a phone screen with a fake test photo?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953512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Moire Pattern &amp; Specular Detection: Deep learning model detects screen refresh artifacts and high-frequency moire lines. Also detects lack of real physical depth and fluid meniscus.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34924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172A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2011680"/>
            <a:ext cx="2103120" cy="2743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0116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RESILIENT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537960" y="2404872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if the officer's device is offline in a remote jungle or mountain border?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37960" y="2953512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Offline Edge Autonomy: All color extraction, hashing, and digital signing happen completely offline. The record is cryptographically immutable and syncs automatically upon regaining signal.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34924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172A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434840"/>
            <a:ext cx="2103120" cy="2743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4348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KINETIC STABILIZED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22960" y="4828032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if the chemical reaction is still developing or changing color?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5376672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Kinetic Multi-Frame Delta Check: The app samples 5 consecutive video frames over 2 seconds. If color vector is drifting (dE &gt; 1.5/sec), the app waits until chemical equilibrium is reached before locking.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263640" y="4206240"/>
            <a:ext cx="534924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172A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4434840"/>
            <a:ext cx="2103120" cy="2743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44348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ANTI-TAMPER SECURED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537960" y="4828032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if a corrupted officer attempts to alter the local database or falsify GPS?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37960" y="5376672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Root/Jailbreak Detection + Merkle Hash Chaining: App checks SafetyNet / Play Integrity API. GPS mock-location APIs are blocked, and cell-tower IDs cross-verify satellite coordinates.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FieldVerify AI · Presumptive Field Drug Testing Companion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PLAN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working hackathon prototype to state-wide deployment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470916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172A">
                <a:alpha val="9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Hackathon Working Deliverables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7548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✓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Android Prototype APK running on Android 11 to 15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✓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Reference Card Detection using OpenCV ArUco tracking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✓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CIELAB Color Engine with Delta-E classification for Scott &amp; Marquis reagents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✓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SHA-256 Hashing &amp; Hardware Keystore mock signing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✓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SQLite storage with instant searchable test log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✓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PDF Evidence Certificate generator with verification QR code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349240" cy="470916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172A">
                <a:alpha val="9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Scaling Roadmap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37960" y="2286000"/>
            <a:ext cx="438912" cy="43891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22860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132320" y="22402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1: Lab Validation &amp; Forensic Benchmark (Months 1 - 3)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132320" y="265176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500+ chemical reactions against spectrophotometers at State Forensic Science Lab (SFSL). Tune ΔE thresholds for adulterants.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537960" y="3429000"/>
            <a:ext cx="438912" cy="43891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37960" y="34290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132320" y="33832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2: District Police Beat Pilot (Months 4 - 6)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132320" y="379476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deployment with 50 highway patrol and narcotics officers. Validate usability under rain, direct sun, and night operations.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37960" y="4572000"/>
            <a:ext cx="438912" cy="43891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37960" y="45720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132320" y="45262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3: State-Wide Rollout &amp; CCTNS Integration (Months 7 - 12)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132320" y="493776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backend directly to CCTNS (Crime and Criminal Tracking Network &amp; Systems) and e-Forensics national databases.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FieldVerify AI · Presumptive Field Drug Testing Companion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9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PRESENTATION STRATEGY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90-second live jury demo sequence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pitch script structured for maximum judge impact during evaluation: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258568"/>
            <a:ext cx="502920" cy="502920"/>
          </a:xfrm>
          <a:prstGeom prst="ellipse">
            <a:avLst/>
          </a:prstGeom>
          <a:solidFill>
            <a:srgbClr val="090E1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2585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508760" y="21945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0:00 - 0:20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08760" y="249631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Setup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49040" y="219456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a simulated colorimetric reaction pouch next to our printed reference card on the judge's table. Turn on harsh overhead yellow lighting.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310128"/>
            <a:ext cx="502920" cy="502920"/>
          </a:xfrm>
          <a:prstGeom prst="ellipse">
            <a:avLst/>
          </a:prstGeom>
          <a:solidFill>
            <a:srgbClr val="090E1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3101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508760" y="32461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0:20 - 0:45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08760" y="354787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Lock &amp; Calibration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49040" y="324612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FieldVerify app. Show screen locking onto the card in 300ms, correcting perspective and instantly neutralizing the yellow glare on screen.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4361688"/>
            <a:ext cx="502920" cy="502920"/>
          </a:xfrm>
          <a:prstGeom prst="ellipse">
            <a:avLst/>
          </a:prstGeom>
          <a:solidFill>
            <a:srgbClr val="090E1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4361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508760" y="42976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0:45 - 1:10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508760" y="459943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Classification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749040" y="429768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'Analyze'. Show on-device model classifying the cobalt blue precipitate with 97.4% confidence in under 400ms without internet connection.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2120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" y="5413248"/>
            <a:ext cx="502920" cy="502920"/>
          </a:xfrm>
          <a:prstGeom prst="ellipse">
            <a:avLst/>
          </a:prstGeom>
          <a:solidFill>
            <a:srgbClr val="090E1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54132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508760" y="53492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1:10 - 1:30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508760" y="56509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Evidence Seal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749040" y="534924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generated digital certificate. Scan the on-screen QR code using a judge's phone to verify the immutable SHA-256 hash in real time.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FieldVerify AI · Presumptive Field Drug Testing Companion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9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029200" cy="502920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657600"/>
            <a:ext cx="5029200" cy="502920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4" name="Shape 2"/>
          <p:cNvSpPr/>
          <p:nvPr/>
        </p:nvSpPr>
        <p:spPr>
          <a:xfrm>
            <a:off x="5638648" y="1463040"/>
            <a:ext cx="914400" cy="91440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38648" y="1463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Field Test, Defensible in Court.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371600" y="352044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FieldVerify AI bridges the critical gap between street-level law enforcement and judicial scrutiny.</a:t>
            </a:r>
            <a:endParaRPr lang="en-US" sz="16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expensive hardware. Zero subjective guesswork. Total evidentiary integrity.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09848" y="4663440"/>
            <a:ext cx="457200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9377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 · Problem Statement: Digital Companion for Field Drug Testing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Presentation  ·  Questions &amp; Demonstration Welcome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2026-09-08T15:05:41Z</dcterms:created>
  <dcterms:modified xsi:type="dcterms:W3CDTF">2026-09-08T15:05:41Z</dcterms:modified>
</cp:coreProperties>
</file>